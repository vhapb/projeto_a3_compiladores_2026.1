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3D4C15-7307-4A7E-9296-396AD271EB41}">
  <a:tblStyle styleId="{BB3D4C15-7307-4A7E-9296-396AD271EB4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c30343c90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ec30343c90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ec30343c90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124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40065" y="1749441"/>
            <a:ext cx="2971800" cy="2082900"/>
          </a:xfrm>
          <a:prstGeom prst="roundRect">
            <a:avLst>
              <a:gd fmla="val 2634" name="adj"/>
            </a:avLst>
          </a:prstGeom>
          <a:solidFill>
            <a:srgbClr val="8E7CC3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41233" y="1914033"/>
            <a:ext cx="2569500" cy="17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FE3D6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initium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 scribe("</a:t>
            </a:r>
            <a:r>
              <a:rPr lang="en-US" sz="1200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Hello,World!</a:t>
            </a:r>
            <a:r>
              <a:rPr b="0" i="0" lang="en-US" sz="120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");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 lege(n);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FE3D6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FE3D6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si (n &gt; 0) {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   scribe(n);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FE3D6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FE3D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FE3D6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finis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119252" y="1136150"/>
            <a:ext cx="2905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TEORIA DA COMPUTAÇÃO E COMPILADORES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011643" y="404743"/>
            <a:ext cx="5120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Transpilador </a:t>
            </a:r>
            <a:r>
              <a:rPr b="1" i="1" lang="en-US" sz="4200" u="none" cap="none" strike="noStrike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Latina</a:t>
            </a:r>
            <a:endParaRPr b="0" i="0" sz="4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694950" y="2985750"/>
            <a:ext cx="2496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6E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7D6E5"/>
                </a:solidFill>
                <a:latin typeface="Calibri"/>
                <a:ea typeface="Calibri"/>
                <a:cs typeface="Calibri"/>
                <a:sym typeface="Calibri"/>
              </a:rPr>
              <a:t>Uma linguagem com vocabulário em Latim, traduzida para Python executável.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0" y="4114800"/>
            <a:ext cx="5394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6E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6E5"/>
                </a:solidFill>
                <a:latin typeface="Calibri"/>
                <a:ea typeface="Calibri"/>
                <a:cs typeface="Calibri"/>
                <a:sym typeface="Calibri"/>
              </a:rPr>
              <a:t>Prof. Eduardo Xavier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FA6BC"/>
                </a:solidFill>
                <a:latin typeface="Calibri"/>
                <a:ea typeface="Calibri"/>
                <a:cs typeface="Calibri"/>
                <a:sym typeface="Calibri"/>
              </a:rPr>
              <a:t>Vitor Hugo Almeida Passos Braga  ·  Marcelo Silva do Carmo Filho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VISÃO GERAL</a:t>
            </a:r>
            <a:endParaRPr b="0" i="0" sz="12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O que é o transpilador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1691640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Um transpilador traduz código de uma linguagem de alto nível para outra </a:t>
            </a: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(diferente de um compilador, que gera código de máquina).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2697480"/>
            <a:ext cx="44805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 nosso lê um programa escrito em </a:t>
            </a:r>
            <a:r>
              <a:rPr b="1" i="0" lang="en-US" sz="1500" u="none" cap="none" strike="noStrike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Latina</a:t>
            </a:r>
            <a:r>
              <a:rPr b="0" i="0" lang="en-US" sz="1500" u="none" cap="none" strike="noStrike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 produz um arquivo </a:t>
            </a:r>
            <a:r>
              <a:rPr b="1" i="0" lang="en-US" sz="1500" u="none" cap="none" strike="noStrike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.py</a:t>
            </a: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equivalente, que roda no Python.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629400" y="1417320"/>
            <a:ext cx="640080" cy="640080"/>
          </a:xfrm>
          <a:prstGeom prst="ellipse">
            <a:avLst/>
          </a:prstGeom>
          <a:solidFill>
            <a:srgbClr val="351C75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3019" y="15709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5440680" y="2286000"/>
            <a:ext cx="1417320" cy="914400"/>
          </a:xfrm>
          <a:prstGeom prst="roundRect">
            <a:avLst>
              <a:gd fmla="val 7000" name="adj"/>
            </a:avLst>
          </a:prstGeom>
          <a:solidFill>
            <a:srgbClr val="EEF6F4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440680" y="2286000"/>
            <a:ext cx="1417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.latina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código fonte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858000" y="2286000"/>
            <a:ext cx="502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9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7360920" y="2286000"/>
            <a:ext cx="1417320" cy="914400"/>
          </a:xfrm>
          <a:prstGeom prst="roundRect">
            <a:avLst>
              <a:gd fmla="val 7000" name="adj"/>
            </a:avLst>
          </a:prstGeom>
          <a:solidFill>
            <a:srgbClr val="F1F5F9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360920" y="2286000"/>
            <a:ext cx="1417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.py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código gerado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548640" y="384048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A LINGUAGEM</a:t>
            </a:r>
            <a:endParaRPr b="0" i="0" sz="12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48640" y="658368"/>
            <a:ext cx="8046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Latina: vocabulário em latim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548640" y="1737360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51C75"/>
                </a:solidFill>
                <a:latin typeface="Courier New"/>
                <a:ea typeface="Courier New"/>
                <a:cs typeface="Courier New"/>
                <a:sym typeface="Courier New"/>
              </a:rPr>
              <a:t>initium / finis</a:t>
            </a:r>
            <a:r>
              <a:rPr b="1" i="0" lang="en-US" sz="1300" u="none" cap="none" strike="noStrike">
                <a:solidFill>
                  <a:srgbClr val="0E7C7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início / fim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548640" y="2139696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51C75"/>
                </a:solidFill>
                <a:latin typeface="Courier New"/>
                <a:ea typeface="Courier New"/>
                <a:cs typeface="Courier New"/>
                <a:sym typeface="Courier New"/>
              </a:rPr>
              <a:t>si / aliter</a:t>
            </a:r>
            <a:r>
              <a:rPr b="1" i="0" lang="en-US" sz="1300" u="none" cap="none" strike="noStrike">
                <a:solidFill>
                  <a:srgbClr val="0E7C7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if / else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48640" y="2542032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51C75"/>
                </a:solidFill>
                <a:latin typeface="Courier New"/>
                <a:ea typeface="Courier New"/>
                <a:cs typeface="Courier New"/>
                <a:sym typeface="Courier New"/>
              </a:rPr>
              <a:t>dum  ·  fac…dum  ·  pro</a:t>
            </a:r>
            <a:r>
              <a:rPr b="1" i="0" lang="en-US" sz="1300" u="none" cap="none" strike="noStrike">
                <a:solidFill>
                  <a:srgbClr val="0E7C7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while · do-while · for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48640" y="2944368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51C75"/>
                </a:solidFill>
                <a:latin typeface="Courier New"/>
                <a:ea typeface="Courier New"/>
                <a:cs typeface="Courier New"/>
                <a:sym typeface="Courier New"/>
              </a:rPr>
              <a:t>lege / scribe</a:t>
            </a:r>
            <a:r>
              <a:rPr b="1" i="0" lang="en-US" sz="1300" u="none" cap="none" strike="noStrike">
                <a:solidFill>
                  <a:srgbClr val="0E7C7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ler / imprimir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48640" y="3346704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51C75"/>
                </a:solidFill>
                <a:latin typeface="Courier New"/>
                <a:ea typeface="Courier New"/>
                <a:cs typeface="Courier New"/>
                <a:sym typeface="Courier New"/>
              </a:rPr>
              <a:t>et / vel / non</a:t>
            </a:r>
            <a:r>
              <a:rPr b="1" i="0" lang="en-US" sz="1300" u="none" cap="none" strike="noStrike">
                <a:solidFill>
                  <a:srgbClr val="0E7C7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and / or / not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48640" y="3749040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51C75"/>
                </a:solidFill>
                <a:latin typeface="Courier New"/>
                <a:ea typeface="Courier New"/>
                <a:cs typeface="Courier New"/>
                <a:sym typeface="Courier New"/>
              </a:rPr>
              <a:t>integer · realis </a:t>
            </a:r>
            <a:r>
              <a:rPr b="1" i="0" lang="en-US" sz="1300" u="none" cap="none" strike="noStrike">
                <a:solidFill>
                  <a:srgbClr val="0E7C7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inteiro · decimal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48640" y="4151376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51C75"/>
                </a:solidFill>
                <a:latin typeface="Courier New"/>
                <a:ea typeface="Courier New"/>
                <a:cs typeface="Courier New"/>
                <a:sym typeface="Courier New"/>
              </a:rPr>
              <a:t>textus · logicus</a:t>
            </a:r>
            <a:r>
              <a:rPr b="1" i="0" lang="en-US" sz="1300" u="none" cap="none" strike="noStrike">
                <a:solidFill>
                  <a:srgbClr val="0E7C7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string · booleano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257800" y="1691649"/>
            <a:ext cx="3520500" cy="3451800"/>
          </a:xfrm>
          <a:prstGeom prst="roundRect">
            <a:avLst>
              <a:gd fmla="val 1558" name="adj"/>
            </a:avLst>
          </a:prstGeom>
          <a:solidFill>
            <a:srgbClr val="351C75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5458968" y="1856232"/>
            <a:ext cx="3118200" cy="3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initium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 integer a, b;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 realis media;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 lege(a);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 lege(b);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 media = (a + b) / 2;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 si (media &gt;= 7) {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   scribe("Aprovado");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 } aliter {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   scribe("Reprovado");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finis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2069246" y="367250"/>
            <a:ext cx="5005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Usando a Latina em 3 passos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548657" y="1362315"/>
            <a:ext cx="361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Escreva o programa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548657" y="1709787"/>
            <a:ext cx="3657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Crie um arquivo .latina. Todo programa fica entre initium e finis; declare as variáveis antes de usá-las.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548657" y="2441307"/>
            <a:ext cx="361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Transpile para Python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548657" y="2788779"/>
            <a:ext cx="3657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Rode o main.py passando seu arquivo: ele valida (léxico, sintático e semântico) e gera o .py equivalente.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548657" y="3520299"/>
            <a:ext cx="361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Execute o resultado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548657" y="3867771"/>
            <a:ext cx="3657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Rode o Python gerado. As entradas do lege são digitadas uma por linha.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5074920" y="1783080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TERMINAL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074920" y="2103120"/>
            <a:ext cx="3703200" cy="2119500"/>
          </a:xfrm>
          <a:prstGeom prst="roundRect">
            <a:avLst>
              <a:gd fmla="val 2588" name="adj"/>
            </a:avLst>
          </a:prstGeom>
          <a:solidFill>
            <a:srgbClr val="351C75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5276088" y="2267712"/>
            <a:ext cx="3300900" cy="17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FE3D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python main.py prog.latina saida.py</a:t>
            </a:r>
            <a:endParaRPr b="0" i="0" sz="105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C93A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7C93A6"/>
                </a:solidFill>
                <a:latin typeface="Courier New"/>
                <a:ea typeface="Courier New"/>
                <a:cs typeface="Courier New"/>
                <a:sym typeface="Courier New"/>
              </a:rPr>
              <a:t>Transpilacao concluida!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FE3D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python saida.py</a:t>
            </a:r>
            <a:endParaRPr b="0" i="0" sz="105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Digite dois numeros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0B96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0B96B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0B96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0B96B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Aprovado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074920" y="4526280"/>
            <a:ext cx="370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 entradas do lege (8 e 9) são digitadas uma por linha.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124D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4066191" y="473625"/>
            <a:ext cx="10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ARQUITETURA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2487145" y="658375"/>
            <a:ext cx="4169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Como funciona: 4 fases</a:t>
            </a:r>
            <a:endParaRPr b="0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Os dados fluem de uma fase para a próxima, do texto-fonte ao Python.</a:t>
            </a:r>
            <a:endParaRPr b="0" i="0" sz="13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548640" y="2194560"/>
            <a:ext cx="1783200" cy="1783200"/>
          </a:xfrm>
          <a:prstGeom prst="roundRect">
            <a:avLst>
              <a:gd fmla="val 3590" name="adj"/>
            </a:avLst>
          </a:prstGeom>
          <a:solidFill>
            <a:srgbClr val="EEF6F4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1184148" y="2395728"/>
            <a:ext cx="512064" cy="512064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1193248" y="2418553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351C75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548640" y="30358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Léxico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548640" y="3346704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351C75"/>
                </a:solidFill>
                <a:latin typeface="Courier New"/>
                <a:ea typeface="Courier New"/>
                <a:cs typeface="Courier New"/>
                <a:sym typeface="Courier New"/>
              </a:rPr>
              <a:t>lexer.py</a:t>
            </a:r>
            <a:endParaRPr b="0" i="0" sz="11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548640" y="361188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tokens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2350008" y="29032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9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6A394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2633472" y="2194560"/>
            <a:ext cx="1783080" cy="1783080"/>
          </a:xfrm>
          <a:prstGeom prst="roundRect">
            <a:avLst>
              <a:gd fmla="val 3590" name="adj"/>
            </a:avLst>
          </a:prstGeom>
          <a:solidFill>
            <a:srgbClr val="F1F5F9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3268980" y="2395728"/>
            <a:ext cx="512064" cy="512064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3273535" y="2418566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351C75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2633472" y="30358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Sintático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2633472" y="3346704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351C75"/>
                </a:solidFill>
                <a:latin typeface="Courier New"/>
                <a:ea typeface="Courier New"/>
                <a:cs typeface="Courier New"/>
                <a:sym typeface="Courier New"/>
              </a:rPr>
              <a:t>parser.py</a:t>
            </a:r>
            <a:endParaRPr b="0" i="0" sz="11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2633472" y="361188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árvore (AST)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434840" y="29032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9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6A394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718304" y="2194560"/>
            <a:ext cx="1783080" cy="1783080"/>
          </a:xfrm>
          <a:prstGeom prst="roundRect">
            <a:avLst>
              <a:gd fmla="val 3590" name="adj"/>
            </a:avLst>
          </a:prstGeom>
          <a:solidFill>
            <a:srgbClr val="EEF6F4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5353812" y="2395728"/>
            <a:ext cx="512064" cy="512064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5358375" y="2418553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351C75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718304" y="30358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Semântico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718304" y="3346704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351C75"/>
                </a:solidFill>
                <a:latin typeface="Courier New"/>
                <a:ea typeface="Courier New"/>
                <a:cs typeface="Courier New"/>
                <a:sym typeface="Courier New"/>
              </a:rPr>
              <a:t>semantico.py</a:t>
            </a:r>
            <a:endParaRPr b="0" i="0" sz="11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4718304" y="361188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validação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519672" y="29032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9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6A394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803136" y="2194560"/>
            <a:ext cx="1783080" cy="1783080"/>
          </a:xfrm>
          <a:prstGeom prst="roundRect">
            <a:avLst>
              <a:gd fmla="val 3590" name="adj"/>
            </a:avLst>
          </a:prstGeom>
          <a:solidFill>
            <a:srgbClr val="F1F5F9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7438644" y="2395728"/>
            <a:ext cx="512064" cy="512064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7434044" y="2395716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351C75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803136" y="30358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Geração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803136" y="3346704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351C75"/>
                </a:solidFill>
                <a:latin typeface="Courier New"/>
                <a:ea typeface="Courier New"/>
                <a:cs typeface="Courier New"/>
                <a:sym typeface="Courier New"/>
              </a:rPr>
              <a:t>gerador.py</a:t>
            </a:r>
            <a:endParaRPr b="0" i="0" sz="11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803136" y="361188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código .py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Entrada: </a:t>
            </a: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250" u="none" cap="none" strike="noStrik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arquivo .latina</a:t>
            </a: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r>
              <a:rPr b="0" i="0" lang="en-US" sz="1250" u="none" cap="none" strike="noStrike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 Saída:</a:t>
            </a: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1250" u="none" cap="none" strike="noStrik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arquivo .py</a:t>
            </a:r>
            <a:endParaRPr b="0" i="0" sz="125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548645" y="494525"/>
            <a:ext cx="73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b="0" i="0" sz="12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548645" y="750557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Análise Léxica </a:t>
            </a:r>
            <a:r>
              <a:rPr b="1" lang="en-US" sz="270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-</a:t>
            </a:r>
            <a:r>
              <a:rPr b="1" i="0" lang="en-US" sz="27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 lexer.py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548640" y="178308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0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351C75"/>
                </a:solidFill>
                <a:latin typeface="Cambria"/>
                <a:ea typeface="Cambria"/>
                <a:cs typeface="Cambria"/>
                <a:sym typeface="Cambria"/>
              </a:rPr>
              <a:t>O que faz</a:t>
            </a:r>
            <a:endParaRPr b="0" i="0" sz="16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566928" y="2194560"/>
            <a:ext cx="43434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Percorre o texto caractere a caractere e o quebra em tokens.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Descarta espaços, tabs e quebras de linha.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Distingue palavra reservada de identificador (tabela de palavras-chave).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Reconhece números, texto e operadores de 1 e 2 caracteres (&gt;=, !=).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51206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EXEMPLO:  scribe("Oi");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5120640" y="2103120"/>
            <a:ext cx="3657600" cy="1492758"/>
          </a:xfrm>
          <a:prstGeom prst="roundRect">
            <a:avLst>
              <a:gd fmla="val 3675" name="adj"/>
            </a:avLst>
          </a:prstGeom>
          <a:solidFill>
            <a:srgbClr val="351C75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5321808" y="2267712"/>
            <a:ext cx="3255264" cy="1163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FE3D6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SCRIBE   'scribe'</a:t>
            </a:r>
            <a:endParaRPr b="0" i="0" sz="11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LPAREN   '('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0B96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0B96B"/>
                </a:solidFill>
                <a:latin typeface="Courier New"/>
                <a:ea typeface="Courier New"/>
                <a:cs typeface="Courier New"/>
                <a:sym typeface="Courier New"/>
              </a:rPr>
              <a:t>TEXTO    'Oi'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RPAREN   ')'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SEMI     ';'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/>
        </p:nvSpPr>
        <p:spPr>
          <a:xfrm>
            <a:off x="566920" y="449725"/>
            <a:ext cx="73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b="0" i="0" sz="12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566920" y="705757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Análise Sintática</a:t>
            </a:r>
            <a:r>
              <a:rPr b="1" lang="en-US" sz="270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 -</a:t>
            </a:r>
            <a:r>
              <a:rPr b="1" i="0" lang="en-US" sz="27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 parser.py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548640" y="178308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0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351C75"/>
                </a:solidFill>
                <a:latin typeface="Cambria"/>
                <a:ea typeface="Cambria"/>
                <a:cs typeface="Cambria"/>
                <a:sym typeface="Cambria"/>
              </a:rPr>
              <a:t>O que faz</a:t>
            </a:r>
            <a:endParaRPr b="0" i="0" sz="16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66928" y="2194560"/>
            <a:ext cx="43434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Parser recursivo-descendente: cada regra da gramática vira um método.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 a sintaxe e constrói a AST (árvore do programa).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Precedência por níveis de expressão; sem recursão à esquerda (laço while).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Gramática LL(1): decide com um único token de lookahead.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51206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AST DE:  (a + b) /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5120640" y="2103120"/>
            <a:ext cx="3657600" cy="1492758"/>
          </a:xfrm>
          <a:prstGeom prst="roundRect">
            <a:avLst>
              <a:gd fmla="val 3675" name="adj"/>
            </a:avLst>
          </a:prstGeom>
          <a:solidFill>
            <a:srgbClr val="351C75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5321808" y="2267712"/>
            <a:ext cx="3255264" cy="1163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FE3D6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OpBin '/'</a:t>
            </a:r>
            <a:endParaRPr b="0" i="0" sz="11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FE3D6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OpBin '+'</a:t>
            </a:r>
            <a:endParaRPr b="0" i="0" sz="11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   Var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   Var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 Num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/>
          <p:nvPr/>
        </p:nvSpPr>
        <p:spPr>
          <a:xfrm>
            <a:off x="566920" y="457200"/>
            <a:ext cx="73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b="0" i="0" sz="12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566920" y="713232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Análise Semântica </a:t>
            </a:r>
            <a:r>
              <a:rPr b="1" lang="en-US" sz="270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-</a:t>
            </a:r>
            <a:r>
              <a:rPr b="1" i="0" lang="en-US" sz="27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 semantico.py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548640" y="178308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0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351C75"/>
                </a:solidFill>
                <a:latin typeface="Cambria"/>
                <a:ea typeface="Cambria"/>
                <a:cs typeface="Cambria"/>
                <a:sym typeface="Cambria"/>
              </a:rPr>
              <a:t>Verifica o que a sintaxe não garante</a:t>
            </a:r>
            <a:endParaRPr b="0" i="0" sz="16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566928" y="2194560"/>
            <a:ext cx="43434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Toda variável foi declarada antes de ser usada.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Os tipos são compatíveis em atribuições e operações.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Escopo: uma pilha de escopos, um por bloco { }.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Condições de si/dum/fac/pro precisam ser lógicas.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51206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EXEMPLO DE ERRO DETECTADO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5120640" y="2103120"/>
            <a:ext cx="3657600" cy="1492758"/>
          </a:xfrm>
          <a:prstGeom prst="roundRect">
            <a:avLst>
              <a:gd fmla="val 3675" name="adj"/>
            </a:avLst>
          </a:prstGeom>
          <a:solidFill>
            <a:srgbClr val="351C75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5321808" y="2267712"/>
            <a:ext cx="3255264" cy="1163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a = b + 1;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6A6A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ERRO: Variavel 'b' usada</a:t>
            </a:r>
            <a:endParaRPr b="0" i="0" sz="1100" u="none" cap="none" strike="noStrike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6A6A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sem ter sido declarada</a:t>
            </a:r>
            <a:endParaRPr b="0" i="0" sz="1100" u="none" cap="none" strike="noStrike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6A6A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(linha 3).</a:t>
            </a:r>
            <a:endParaRPr b="0" i="0" sz="1100" u="none" cap="none" strike="noStrike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/>
          <p:nvPr/>
        </p:nvSpPr>
        <p:spPr>
          <a:xfrm>
            <a:off x="566920" y="449750"/>
            <a:ext cx="73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FASE 4</a:t>
            </a:r>
            <a:endParaRPr b="0" i="0" sz="12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566920" y="705782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Geração de Código </a:t>
            </a:r>
            <a:r>
              <a:rPr b="1" lang="en-US" sz="270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- </a:t>
            </a:r>
            <a:r>
              <a:rPr b="1" i="0" lang="en-US" sz="27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gerador.py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548640" y="178308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0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351C75"/>
                </a:solidFill>
                <a:latin typeface="Cambria"/>
                <a:ea typeface="Cambria"/>
                <a:cs typeface="Cambria"/>
                <a:sym typeface="Cambria"/>
              </a:rPr>
              <a:t>O que faz</a:t>
            </a:r>
            <a:endParaRPr b="0" i="0" sz="16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566928" y="2194560"/>
            <a:ext cx="43434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Percorre a AST já validada e escreve o Python equivalente.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Cuida da indentação (Python não usa chaves).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fac…dum vira while True + break; pro vira while equivalente.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lege gera int/float/input conforme o tipo da variável.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51206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fac…dum  →  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5120640" y="2103120"/>
            <a:ext cx="3657600" cy="1958188"/>
          </a:xfrm>
          <a:prstGeom prst="roundRect">
            <a:avLst>
              <a:gd fmla="val 2802" name="adj"/>
            </a:avLst>
          </a:prstGeom>
          <a:solidFill>
            <a:srgbClr val="351C75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"/>
          <p:cNvSpPr/>
          <p:nvPr/>
        </p:nvSpPr>
        <p:spPr>
          <a:xfrm>
            <a:off x="5321808" y="2267712"/>
            <a:ext cx="3255264" cy="1629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FE3D6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fac { ... }</a:t>
            </a:r>
            <a:endParaRPr b="0" i="0" sz="11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FE3D6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dum (a &gt; 0);</a:t>
            </a:r>
            <a:endParaRPr b="0" i="0" sz="11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2E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B3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FEFEF"/>
                </a:solidFill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  <a:endParaRPr b="0" i="0" sz="1100" u="none" cap="none" strike="noStrike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E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FEFEF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b="0" i="0" sz="1100" u="none" cap="none" strike="noStrike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B3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FEFEF"/>
                </a:solidFill>
                <a:latin typeface="Courier New"/>
                <a:ea typeface="Courier New"/>
                <a:cs typeface="Courier New"/>
                <a:sym typeface="Courier New"/>
              </a:rPr>
              <a:t>    if not (a &gt; 0):</a:t>
            </a:r>
            <a:endParaRPr b="0" i="0" sz="1100" u="none" cap="none" strike="noStrike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B3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FEFEF"/>
                </a:solidFill>
                <a:latin typeface="Courier New"/>
                <a:ea typeface="Courier New"/>
                <a:cs typeface="Courier New"/>
                <a:sym typeface="Courier New"/>
              </a:rPr>
              <a:t>        break</a:t>
            </a:r>
            <a:endParaRPr b="0" i="0" sz="1100" u="none" cap="none" strike="noStrike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124D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EQUIVALÊNCIA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BEFEE"/>
                </a:solidFill>
                <a:latin typeface="Cambria"/>
                <a:ea typeface="Cambria"/>
                <a:cs typeface="Cambria"/>
                <a:sym typeface="Cambria"/>
              </a:rPr>
              <a:t>Latina </a:t>
            </a:r>
            <a:r>
              <a:rPr b="1" lang="en-US" sz="3000">
                <a:solidFill>
                  <a:srgbClr val="FBEFEE"/>
                </a:solidFill>
                <a:latin typeface="Cambria"/>
                <a:ea typeface="Cambria"/>
                <a:cs typeface="Cambria"/>
                <a:sym typeface="Cambria"/>
              </a:rPr>
              <a:t>para</a:t>
            </a:r>
            <a:r>
              <a:rPr b="1" i="0" lang="en-US" sz="3000" u="none" cap="none" strike="noStrike">
                <a:solidFill>
                  <a:srgbClr val="FBEFEE"/>
                </a:solidFill>
                <a:latin typeface="Cambria"/>
                <a:ea typeface="Cambria"/>
                <a:cs typeface="Cambria"/>
                <a:sym typeface="Cambria"/>
              </a:rPr>
              <a:t> Python</a:t>
            </a:r>
            <a:endParaRPr b="0" i="0" sz="3000" u="none" cap="none" strike="noStrike">
              <a:solidFill>
                <a:srgbClr val="FBEF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1" name="Google Shape;161;p12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{BB3D4C15-7307-4A7E-9296-396AD271EB41}</a:tableStyleId>
              </a:tblPr>
              <a:tblGrid>
                <a:gridCol w="3657600"/>
                <a:gridCol w="43891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51C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Latina</a:t>
                      </a:r>
                      <a:endParaRPr sz="1200" u="none" cap="none" strike="noStrike">
                        <a:solidFill>
                          <a:srgbClr val="351C7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51C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gerado</a:t>
                      </a:r>
                      <a:endParaRPr sz="1200" u="none" cap="none" strike="noStrike">
                        <a:solidFill>
                          <a:srgbClr val="351C7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scribe(e);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print(e)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lege(a);  (integer)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6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= int(input())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6F4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si (c) { } aliter { }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if c:  /  else: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dum (c) { }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6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while c: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6F4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 (i=0; c; i=i+1) { }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 = 0 ; while c: ... i = i+1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et   /   vel   /   non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6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and  /  or  /  not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6F4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verum  /  falsum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True  /  False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124D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VALIDAÇÃO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Cenários de teste</a:t>
            </a:r>
            <a:endParaRPr b="0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548640" y="16916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PROGRAMA VÁLIDO  </a:t>
            </a:r>
            <a:r>
              <a:rPr b="1" lang="en-US" sz="1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1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 transpila e executa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548640" y="2103120"/>
            <a:ext cx="8046720" cy="658368"/>
          </a:xfrm>
          <a:prstGeom prst="roundRect">
            <a:avLst>
              <a:gd fmla="val 9722" name="adj"/>
            </a:avLst>
          </a:prstGeom>
          <a:solidFill>
            <a:srgbClr val="EEF6F4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844" y="22951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3"/>
          <p:cNvSpPr/>
          <p:nvPr/>
        </p:nvSpPr>
        <p:spPr>
          <a:xfrm>
            <a:off x="1234440" y="2103120"/>
            <a:ext cx="7315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exemplo.latina  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tipos · si/aliter · 3 repetições · precedência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548640" y="308152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2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4524B"/>
                </a:solidFill>
                <a:latin typeface="Calibri"/>
                <a:ea typeface="Calibri"/>
                <a:cs typeface="Calibri"/>
                <a:sym typeface="Calibri"/>
              </a:rPr>
              <a:t>PROGRAMAS INVÁLIDOS  </a:t>
            </a:r>
            <a:r>
              <a:rPr b="1" lang="en-US" sz="1200">
                <a:solidFill>
                  <a:srgbClr val="B4524B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1" i="0" lang="en-US" sz="1200" u="none" cap="none" strike="noStrike">
                <a:solidFill>
                  <a:srgbClr val="B4524B"/>
                </a:solidFill>
                <a:latin typeface="Calibri"/>
                <a:ea typeface="Calibri"/>
                <a:cs typeface="Calibri"/>
                <a:sym typeface="Calibri"/>
              </a:rPr>
              <a:t> são rejeitados com erro e linha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548640" y="3493008"/>
            <a:ext cx="8046720" cy="603504"/>
          </a:xfrm>
          <a:prstGeom prst="roundRect">
            <a:avLst>
              <a:gd fmla="val 10606" name="adj"/>
            </a:avLst>
          </a:prstGeom>
          <a:solidFill>
            <a:srgbClr val="FBEFEE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"/>
          <p:cNvSpPr/>
          <p:nvPr/>
        </p:nvSpPr>
        <p:spPr>
          <a:xfrm>
            <a:off x="777240" y="3493008"/>
            <a:ext cx="320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24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B4524B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1234440" y="3493008"/>
            <a:ext cx="7315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erro_naodeclarada.latina  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variável usada sem declaração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548640" y="4242816"/>
            <a:ext cx="8046720" cy="603504"/>
          </a:xfrm>
          <a:prstGeom prst="roundRect">
            <a:avLst>
              <a:gd fmla="val 10606" name="adj"/>
            </a:avLst>
          </a:prstGeom>
          <a:solidFill>
            <a:srgbClr val="FBEFEE"/>
          </a:solidFill>
          <a:ln>
            <a:noFill/>
          </a:ln>
          <a:effectLst>
            <a:outerShdw blurRad="88900" rotWithShape="0" algn="bl" dir="5400000" dist="381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"/>
          <p:cNvSpPr/>
          <p:nvPr/>
        </p:nvSpPr>
        <p:spPr>
          <a:xfrm>
            <a:off x="777240" y="4242816"/>
            <a:ext cx="320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24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B4524B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1234440" y="4242816"/>
            <a:ext cx="7315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erro_tipo.latina  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atribuição de tipo incompatível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124D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/>
          <p:nvPr/>
        </p:nvSpPr>
        <p:spPr>
          <a:xfrm>
            <a:off x="4111954" y="1845900"/>
            <a:ext cx="92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9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b="0" i="0" sz="13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2727300" y="2120100"/>
            <a:ext cx="36894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6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Obrigado!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640055" y="4428580"/>
            <a:ext cx="786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6B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FA6BC"/>
                </a:solidFill>
                <a:latin typeface="Calibri"/>
                <a:ea typeface="Calibri"/>
                <a:cs typeface="Calibri"/>
                <a:sym typeface="Calibri"/>
              </a:rPr>
              <a:t>Linguagem fonte: </a:t>
            </a:r>
            <a:r>
              <a:rPr b="1" i="0" lang="en-US" sz="13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Latim</a:t>
            </a:r>
            <a:r>
              <a:rPr b="0" i="0" lang="en-US" sz="13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00" u="none" cap="none" strike="noStrike">
                <a:solidFill>
                  <a:srgbClr val="8FA6BC"/>
                </a:solidFill>
                <a:latin typeface="Calibri"/>
                <a:ea typeface="Calibri"/>
                <a:cs typeface="Calibri"/>
                <a:sym typeface="Calibri"/>
              </a:rPr>
              <a:t>     Destino: </a:t>
            </a:r>
            <a:r>
              <a:rPr b="1" i="0" lang="en-US" sz="13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3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